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btiZIkpi+ON0pTLoUGWX6lGFt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 txBox="1"/>
          <p:nvPr>
            <p:ph type="ctrTitle"/>
          </p:nvPr>
        </p:nvSpPr>
        <p:spPr>
          <a:xfrm>
            <a:off x="1143000" y="1122361"/>
            <a:ext cx="6858000" cy="2387598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" type="subTitle"/>
          </p:nvPr>
        </p:nvSpPr>
        <p:spPr>
          <a:xfrm>
            <a:off x="1143000" y="3602041"/>
            <a:ext cx="6858000" cy="1655758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/>
          <p:nvPr>
            <p:ph type="title"/>
          </p:nvPr>
        </p:nvSpPr>
        <p:spPr>
          <a:xfrm>
            <a:off x="685800" y="2130478"/>
            <a:ext cx="7772043" cy="146952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" type="body"/>
          </p:nvPr>
        </p:nvSpPr>
        <p:spPr>
          <a:xfrm>
            <a:off x="457200" y="1604515"/>
            <a:ext cx="8229243" cy="4525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623885" y="1709735"/>
            <a:ext cx="7886700" cy="2852735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" type="body"/>
          </p:nvPr>
        </p:nvSpPr>
        <p:spPr>
          <a:xfrm>
            <a:off x="623885" y="4589465"/>
            <a:ext cx="7886700" cy="1500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Calibri"/>
              <a:buNone/>
              <a:defRPr sz="2400">
                <a:solidFill>
                  <a:srgbClr val="898989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/>
          <p:nvPr>
            <p:ph type="title"/>
          </p:nvPr>
        </p:nvSpPr>
        <p:spPr>
          <a:xfrm>
            <a:off x="685800" y="2130478"/>
            <a:ext cx="7772043" cy="146952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" type="body"/>
          </p:nvPr>
        </p:nvSpPr>
        <p:spPr>
          <a:xfrm>
            <a:off x="457200" y="1604964"/>
            <a:ext cx="4038603" cy="452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4648196" y="1604964"/>
            <a:ext cx="4038603" cy="452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630241" y="365129"/>
            <a:ext cx="7886700" cy="1325559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630241" y="1681160"/>
            <a:ext cx="3868734" cy="8239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630241" y="2505071"/>
            <a:ext cx="3868734" cy="3684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3" type="body"/>
          </p:nvPr>
        </p:nvSpPr>
        <p:spPr>
          <a:xfrm>
            <a:off x="4629149" y="1681160"/>
            <a:ext cx="3887791" cy="8239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4" type="body"/>
          </p:nvPr>
        </p:nvSpPr>
        <p:spPr>
          <a:xfrm>
            <a:off x="4629149" y="2505071"/>
            <a:ext cx="3887791" cy="3684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type="title"/>
          </p:nvPr>
        </p:nvSpPr>
        <p:spPr>
          <a:xfrm>
            <a:off x="685800" y="2130478"/>
            <a:ext cx="7772043" cy="146952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type="title"/>
          </p:nvPr>
        </p:nvSpPr>
        <p:spPr>
          <a:xfrm>
            <a:off x="630241" y="457200"/>
            <a:ext cx="2949570" cy="1600200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" type="body"/>
          </p:nvPr>
        </p:nvSpPr>
        <p:spPr>
          <a:xfrm>
            <a:off x="3887791" y="987423"/>
            <a:ext cx="4629149" cy="4873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4064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2" type="body"/>
          </p:nvPr>
        </p:nvSpPr>
        <p:spPr>
          <a:xfrm>
            <a:off x="630241" y="2057400"/>
            <a:ext cx="2949570" cy="3811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630241" y="457200"/>
            <a:ext cx="2949570" cy="1600200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/>
          <p:nvPr>
            <p:ph idx="2" type="pic"/>
          </p:nvPr>
        </p:nvSpPr>
        <p:spPr>
          <a:xfrm>
            <a:off x="3887791" y="987423"/>
            <a:ext cx="4629149" cy="4873623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9"/>
          <p:cNvSpPr txBox="1"/>
          <p:nvPr>
            <p:ph idx="1" type="body"/>
          </p:nvPr>
        </p:nvSpPr>
        <p:spPr>
          <a:xfrm>
            <a:off x="630241" y="2057400"/>
            <a:ext cx="2949570" cy="3811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type="title"/>
          </p:nvPr>
        </p:nvSpPr>
        <p:spPr>
          <a:xfrm>
            <a:off x="685800" y="2130478"/>
            <a:ext cx="7772043" cy="146952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" type="body"/>
          </p:nvPr>
        </p:nvSpPr>
        <p:spPr>
          <a:xfrm rot="5400000">
            <a:off x="2308860" y="-247145"/>
            <a:ext cx="4525923" cy="8229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 rot="5400000">
            <a:off x="5395121" y="2839243"/>
            <a:ext cx="4525959" cy="2057400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" type="body"/>
          </p:nvPr>
        </p:nvSpPr>
        <p:spPr>
          <a:xfrm rot="5400000">
            <a:off x="1204118" y="858045"/>
            <a:ext cx="4525959" cy="6019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body"/>
          </p:nvPr>
        </p:nvSpPr>
        <p:spPr>
          <a:xfrm>
            <a:off x="457200" y="1600200"/>
            <a:ext cx="8229243" cy="452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ctrTitle"/>
          </p:nvPr>
        </p:nvSpPr>
        <p:spPr>
          <a:xfrm>
            <a:off x="1143000" y="1122361"/>
            <a:ext cx="6858000" cy="2387598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" type="subTitle"/>
          </p:nvPr>
        </p:nvSpPr>
        <p:spPr>
          <a:xfrm>
            <a:off x="1143000" y="3602041"/>
            <a:ext cx="6858000" cy="1655758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sz="2400"/>
            </a:lvl1pPr>
            <a:lvl2pPr lvl="1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3pPr>
            <a:lvl4pPr lvl="3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5pPr>
            <a:lvl6pPr lvl="5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lvl="6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lvl="8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type="title"/>
          </p:nvPr>
        </p:nvSpPr>
        <p:spPr>
          <a:xfrm>
            <a:off x="623885" y="1709735"/>
            <a:ext cx="7886700" cy="2852735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" type="body"/>
          </p:nvPr>
        </p:nvSpPr>
        <p:spPr>
          <a:xfrm>
            <a:off x="623885" y="4589465"/>
            <a:ext cx="7886700" cy="150018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80"/>
              <a:buNone/>
              <a:defRPr sz="2400">
                <a:solidFill>
                  <a:srgbClr val="898989"/>
                </a:solidFill>
              </a:defRPr>
            </a:lvl1pPr>
            <a:lvl2pPr indent="-314325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2pPr>
            <a:lvl3pPr indent="-280035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4pPr>
            <a:lvl5pPr indent="-280035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4"/>
          <p:cNvSpPr txBox="1"/>
          <p:nvPr>
            <p:ph idx="1" type="body"/>
          </p:nvPr>
        </p:nvSpPr>
        <p:spPr>
          <a:xfrm>
            <a:off x="457200" y="1600200"/>
            <a:ext cx="4038603" cy="4525959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2" type="body"/>
          </p:nvPr>
        </p:nvSpPr>
        <p:spPr>
          <a:xfrm>
            <a:off x="4648196" y="1600200"/>
            <a:ext cx="4038603" cy="4525959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630241" y="365129"/>
            <a:ext cx="7886700" cy="1325559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" type="body"/>
          </p:nvPr>
        </p:nvSpPr>
        <p:spPr>
          <a:xfrm>
            <a:off x="630241" y="1681160"/>
            <a:ext cx="3868734" cy="823910"/>
          </a:xfrm>
          <a:prstGeom prst="rect">
            <a:avLst/>
          </a:prstGeom>
          <a:noFill/>
          <a:ln>
            <a:noFill/>
          </a:ln>
        </p:spPr>
        <p:txBody>
          <a:bodyPr anchorCtr="0" anchor="b" bIns="44975" lIns="90000" spcFirstLastPara="1" rIns="90000" wrap="square" tIns="44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b="1" sz="2400"/>
            </a:lvl1pPr>
            <a:lvl2pPr indent="-314325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2pPr>
            <a:lvl3pPr indent="-280035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4pPr>
            <a:lvl5pPr indent="-280035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2" type="body"/>
          </p:nvPr>
        </p:nvSpPr>
        <p:spPr>
          <a:xfrm>
            <a:off x="630241" y="2505071"/>
            <a:ext cx="3868734" cy="3684583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3" type="body"/>
          </p:nvPr>
        </p:nvSpPr>
        <p:spPr>
          <a:xfrm>
            <a:off x="4629149" y="1681160"/>
            <a:ext cx="3887791" cy="823910"/>
          </a:xfrm>
          <a:prstGeom prst="rect">
            <a:avLst/>
          </a:prstGeom>
          <a:noFill/>
          <a:ln>
            <a:noFill/>
          </a:ln>
        </p:spPr>
        <p:txBody>
          <a:bodyPr anchorCtr="0" anchor="b" bIns="44975" lIns="90000" spcFirstLastPara="1" rIns="90000" wrap="square" tIns="44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b="1" sz="2400"/>
            </a:lvl1pPr>
            <a:lvl2pPr indent="-314325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2pPr>
            <a:lvl3pPr indent="-280035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4pPr>
            <a:lvl5pPr indent="-280035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4" type="body"/>
          </p:nvPr>
        </p:nvSpPr>
        <p:spPr>
          <a:xfrm>
            <a:off x="4629149" y="2505071"/>
            <a:ext cx="3887791" cy="3684583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type="title"/>
          </p:nvPr>
        </p:nvSpPr>
        <p:spPr>
          <a:xfrm>
            <a:off x="630241" y="457200"/>
            <a:ext cx="2949570" cy="1600200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" type="body"/>
          </p:nvPr>
        </p:nvSpPr>
        <p:spPr>
          <a:xfrm>
            <a:off x="3887791" y="987423"/>
            <a:ext cx="4629149" cy="4873623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6195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100"/>
              <a:buChar char="–"/>
              <a:defRPr sz="2800"/>
            </a:lvl2pPr>
            <a:lvl3pPr indent="-297180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3pPr>
            <a:lvl4pPr indent="-32385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4pPr>
            <a:lvl5pPr indent="-285750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2" type="body"/>
          </p:nvPr>
        </p:nvSpPr>
        <p:spPr>
          <a:xfrm>
            <a:off x="630241" y="2057400"/>
            <a:ext cx="2949570" cy="3811584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/>
            </a:lvl1pPr>
            <a:lvl2pPr indent="-314325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2pPr>
            <a:lvl3pPr indent="-280035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4pPr>
            <a:lvl5pPr indent="-280035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type="title"/>
          </p:nvPr>
        </p:nvSpPr>
        <p:spPr>
          <a:xfrm>
            <a:off x="630241" y="457200"/>
            <a:ext cx="2949570" cy="1600200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9"/>
          <p:cNvSpPr/>
          <p:nvPr>
            <p:ph idx="2" type="pic"/>
          </p:nvPr>
        </p:nvSpPr>
        <p:spPr>
          <a:xfrm>
            <a:off x="3887791" y="987423"/>
            <a:ext cx="4629149" cy="4873623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9"/>
          <p:cNvSpPr txBox="1"/>
          <p:nvPr>
            <p:ph idx="1" type="body"/>
          </p:nvPr>
        </p:nvSpPr>
        <p:spPr>
          <a:xfrm>
            <a:off x="630241" y="2057400"/>
            <a:ext cx="2949570" cy="3811584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/>
            </a:lvl1pPr>
            <a:lvl2pPr indent="-314325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2pPr>
            <a:lvl3pPr indent="-280035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4pPr>
            <a:lvl5pPr indent="-280035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9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9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1" type="body"/>
          </p:nvPr>
        </p:nvSpPr>
        <p:spPr>
          <a:xfrm rot="5400000">
            <a:off x="2309043" y="-251643"/>
            <a:ext cx="4525557" cy="8229243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48" name="Google Shape;148;p30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0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0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/>
          <p:nvPr>
            <p:ph type="title"/>
          </p:nvPr>
        </p:nvSpPr>
        <p:spPr>
          <a:xfrm rot="5400000">
            <a:off x="4732336" y="2171705"/>
            <a:ext cx="5851529" cy="2057400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1"/>
          <p:cNvSpPr txBox="1"/>
          <p:nvPr>
            <p:ph idx="1" type="body"/>
          </p:nvPr>
        </p:nvSpPr>
        <p:spPr>
          <a:xfrm rot="5400000">
            <a:off x="541333" y="190507"/>
            <a:ext cx="5851529" cy="6019796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1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1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3643" cy="68576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8"/>
          <p:cNvSpPr txBox="1"/>
          <p:nvPr>
            <p:ph type="title"/>
          </p:nvPr>
        </p:nvSpPr>
        <p:spPr>
          <a:xfrm>
            <a:off x="685800" y="2130478"/>
            <a:ext cx="7772043" cy="146952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604515"/>
            <a:ext cx="8229243" cy="4525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3643" cy="685764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0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457200" y="1600200"/>
            <a:ext cx="8229243" cy="452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0039" lvl="4" marL="22860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0039" lvl="6" marL="32004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0040" lvl="7" marL="36576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0040" lvl="8" marL="4114800" marR="0" rtl="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0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"/>
          <p:cNvSpPr txBox="1"/>
          <p:nvPr>
            <p:ph type="ctrTitle"/>
          </p:nvPr>
        </p:nvSpPr>
        <p:spPr>
          <a:xfrm>
            <a:off x="1143000" y="1122361"/>
            <a:ext cx="6858000" cy="2387598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lang="en-IN"/>
              <a:t>DATA ANALYTICS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"/>
          <p:cNvSpPr txBox="1"/>
          <p:nvPr>
            <p:ph type="title"/>
          </p:nvPr>
        </p:nvSpPr>
        <p:spPr>
          <a:xfrm>
            <a:off x="457200" y="125836"/>
            <a:ext cx="8229243" cy="1291484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IN"/>
              <a:t>DATA </a:t>
            </a:r>
            <a:endParaRPr/>
          </a:p>
        </p:txBody>
      </p:sp>
      <p:sp>
        <p:nvSpPr>
          <p:cNvPr id="167" name="Google Shape;167;p2"/>
          <p:cNvSpPr txBox="1"/>
          <p:nvPr>
            <p:ph idx="1" type="body"/>
          </p:nvPr>
        </p:nvSpPr>
        <p:spPr>
          <a:xfrm>
            <a:off x="457200" y="1600200"/>
            <a:ext cx="8229243" cy="452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b="1" lang="en-IN"/>
              <a:t>Data</a:t>
            </a:r>
            <a:r>
              <a:rPr lang="en-IN"/>
              <a:t> refers to a collection of raw, unorganized facts, figures, observations, and symbols that can be processed and analyzed to extract meaningful insights.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 txBox="1"/>
          <p:nvPr>
            <p:ph type="title"/>
          </p:nvPr>
        </p:nvSpPr>
        <p:spPr>
          <a:xfrm>
            <a:off x="457200" y="75501"/>
            <a:ext cx="8229243" cy="1341818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IN"/>
              <a:t>DATA ANALYTICS</a:t>
            </a:r>
            <a:endParaRPr/>
          </a:p>
        </p:txBody>
      </p:sp>
      <p:sp>
        <p:nvSpPr>
          <p:cNvPr id="173" name="Google Shape;173;p3"/>
          <p:cNvSpPr txBox="1"/>
          <p:nvPr>
            <p:ph idx="1" type="body"/>
          </p:nvPr>
        </p:nvSpPr>
        <p:spPr>
          <a:xfrm>
            <a:off x="457200" y="1107348"/>
            <a:ext cx="8229243" cy="501841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8001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lang="en-IN" sz="2800"/>
              <a:t>Data analytics is the process of inspecting, cleansing, transforming, and modeling data with the goal of discovering useful information, informing conclusions, and supporting decision-making.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b="1" lang="en-IN" sz="2800"/>
              <a:t>Goal:</a:t>
            </a:r>
            <a:r>
              <a:rPr lang="en-IN" sz="2800"/>
              <a:t> To turn raw data into actionable insights that can drive business growth, solve problems, or improve processes.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b="1" lang="en-IN" sz="2800"/>
              <a:t>Data-Driven Decisions:</a:t>
            </a:r>
            <a:r>
              <a:rPr lang="en-IN" sz="2800"/>
              <a:t> The ultimate aim is to move from intuition-based decisions to decisions backed by evidence derived from data</a:t>
            </a:r>
            <a:r>
              <a:rPr lang="en-IN"/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/>
          <p:nvPr>
            <p:ph type="title"/>
          </p:nvPr>
        </p:nvSpPr>
        <p:spPr>
          <a:xfrm>
            <a:off x="457200" y="117446"/>
            <a:ext cx="8229243" cy="129987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IN"/>
              <a:t>Types of Data Analytics</a:t>
            </a:r>
            <a:endParaRPr/>
          </a:p>
        </p:txBody>
      </p:sp>
      <p:sp>
        <p:nvSpPr>
          <p:cNvPr id="179" name="Google Shape;179;p4"/>
          <p:cNvSpPr txBox="1"/>
          <p:nvPr>
            <p:ph idx="1" type="body"/>
          </p:nvPr>
        </p:nvSpPr>
        <p:spPr>
          <a:xfrm>
            <a:off x="457200" y="1417320"/>
            <a:ext cx="8229243" cy="4708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IN"/>
              <a:t>Descriptive Analytics : What happened?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IN"/>
              <a:t>Diagnostic Analytics : Why did it happen?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IN"/>
              <a:t>Predictive Analytics : What will happen?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IN"/>
              <a:t>Prescriptive Analytics : What should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IN"/>
              <a:t>STEPS IN DATA ANALYSIS</a:t>
            </a:r>
            <a:endParaRPr/>
          </a:p>
        </p:txBody>
      </p:sp>
      <p:sp>
        <p:nvSpPr>
          <p:cNvPr id="185" name="Google Shape;185;p5"/>
          <p:cNvSpPr txBox="1"/>
          <p:nvPr>
            <p:ph idx="1" type="body"/>
          </p:nvPr>
        </p:nvSpPr>
        <p:spPr>
          <a:xfrm>
            <a:off x="457200" y="1233182"/>
            <a:ext cx="8229243" cy="489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b="1" lang="en-IN"/>
              <a:t>Step 1. Define the Problem or Research Question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b="1" lang="en-IN"/>
              <a:t>Step 2. Data Collection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b="1" lang="en-IN"/>
              <a:t>Step 3. Data Cleaning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b="1" lang="en-IN"/>
              <a:t>Step 4. Analyzing the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b="1" lang="en-IN"/>
              <a:t>Step 5. Data Visualization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b="1" lang="en-IN"/>
              <a:t>Step 6. Presenting the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IN"/>
              <a:t>Tools for Data Analytics</a:t>
            </a:r>
            <a:endParaRPr/>
          </a:p>
        </p:txBody>
      </p:sp>
      <p:sp>
        <p:nvSpPr>
          <p:cNvPr id="191" name="Google Shape;191;p6"/>
          <p:cNvSpPr txBox="1"/>
          <p:nvPr>
            <p:ph idx="1" type="body"/>
          </p:nvPr>
        </p:nvSpPr>
        <p:spPr>
          <a:xfrm>
            <a:off x="457200" y="1417319"/>
            <a:ext cx="8686800" cy="4708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8001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b="1" lang="en-IN" sz="2800"/>
              <a:t>Programming Languages:</a:t>
            </a:r>
            <a:r>
              <a:rPr lang="en-IN" sz="2800"/>
              <a:t> Python (with libraries like Pandas, NumPy,Matplotlib, Seaborn), R .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b="1" lang="en-IN" sz="2800"/>
              <a:t>Spreadsheet Software:</a:t>
            </a:r>
            <a:r>
              <a:rPr lang="en-IN" sz="2800"/>
              <a:t> Microsoft Excel (for basic analysis).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b="1" lang="en-IN" sz="2800"/>
              <a:t>Database Management Systems:</a:t>
            </a:r>
            <a:r>
              <a:rPr lang="en-IN" sz="2800"/>
              <a:t> SQL (for querying databases).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b="1" lang="en-IN" sz="2800"/>
              <a:t>Business Intelligence (BI) Tools: </a:t>
            </a:r>
            <a:r>
              <a:rPr lang="en-IN" sz="2800"/>
              <a:t>Tableau, Power BI (for visualization and dashboarding).</a:t>
            </a:r>
            <a:endParaRPr b="1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>
            <p:ph idx="1" type="body"/>
          </p:nvPr>
        </p:nvSpPr>
        <p:spPr>
          <a:xfrm>
            <a:off x="457200" y="2810312"/>
            <a:ext cx="8229243" cy="331544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None/>
            </a:pPr>
            <a:r>
              <a:rPr lang="en-IN" sz="6000"/>
              <a:t>           THANK YOU!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fault 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2025-05-22T06:23:24Z</dcterms:created>
  <dc:creator>Sneha Joshy</dc:creator>
</cp:coreProperties>
</file>